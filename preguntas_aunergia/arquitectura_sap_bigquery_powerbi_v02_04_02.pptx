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B15018-E66D-448D-8AEB-831C198138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205DB9-C216-47CF-8281-CB36CCAB15B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3853EE9-80E6-40C6-AE36-72583C05A03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DD9EE8F-BA59-4370-B792-E8ED1A342A7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1BDD47-11F3-4F2A-8EA3-137EF2A7586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393ADA0-D902-413E-B10B-9BEDCD49E50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0FFEA89-FC59-4186-8D69-E2FB9D74D2C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CBC2FDA-2641-4714-A002-3AA7710F50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AFBF77D-7C18-4E8F-85DC-286366A488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961BE9A-1F8C-440F-B71A-373B938A581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CCAEF7D-EFE7-4E5C-80E6-F2FA84C7618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2"/>
          <p:cNvSpPr/>
          <p:nvPr/>
        </p:nvSpPr>
        <p:spPr>
          <a:xfrm>
            <a:off x="228960" y="457200"/>
            <a:ext cx="2285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s-AR" sz="14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SAP S/4HANA</a:t>
            </a:r>
            <a:endParaRPr b="0" lang="es-AR" sz="1400" strike="noStrike" u="none">
              <a:solidFill>
                <a:srgbClr val="333333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AR" sz="12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(On-premise)</a:t>
            </a:r>
            <a:endParaRPr b="0" lang="es-AR" sz="1200" strike="noStrike" u="none">
              <a:solidFill>
                <a:srgbClr val="333333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3"/>
          <p:cNvSpPr/>
          <p:nvPr/>
        </p:nvSpPr>
        <p:spPr>
          <a:xfrm>
            <a:off x="2971800" y="457200"/>
            <a:ext cx="2285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s-AR" sz="14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Google BigQuery</a:t>
            </a:r>
            <a:endParaRPr b="0" lang="es-AR" sz="1400" strike="noStrike" u="none">
              <a:solidFill>
                <a:srgbClr val="333333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AR" sz="12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(Data Lake 3-capas)</a:t>
            </a:r>
            <a:endParaRPr b="0" lang="es-AR" sz="1200" strike="noStrike" u="none">
              <a:solidFill>
                <a:srgbClr val="333333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4"/>
          <p:cNvSpPr/>
          <p:nvPr/>
        </p:nvSpPr>
        <p:spPr>
          <a:xfrm>
            <a:off x="5707080" y="457200"/>
            <a:ext cx="2285280" cy="4114440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s-AR" sz="14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Power BI</a:t>
            </a:r>
            <a:endParaRPr b="0" lang="es-AR" sz="1400" strike="noStrike" u="none">
              <a:solidFill>
                <a:srgbClr val="333333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AR" sz="12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(12 Dashboards)</a:t>
            </a:r>
            <a:endParaRPr b="0" lang="es-AR" sz="1200" strike="noStrike" u="none">
              <a:solidFill>
                <a:srgbClr val="333333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10"/>
          <p:cNvSpPr/>
          <p:nvPr/>
        </p:nvSpPr>
        <p:spPr>
          <a:xfrm>
            <a:off x="3201120" y="1143720"/>
            <a:ext cx="1828080" cy="685080"/>
          </a:xfrm>
          <a:prstGeom prst="rect">
            <a:avLst/>
          </a:prstGeom>
          <a:solidFill>
            <a:srgbClr val="dddddd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ZONA RAW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Datos crudos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11"/>
          <p:cNvSpPr/>
          <p:nvPr/>
        </p:nvSpPr>
        <p:spPr>
          <a:xfrm>
            <a:off x="3200400" y="2286360"/>
            <a:ext cx="1828080" cy="685440"/>
          </a:xfrm>
          <a:prstGeom prst="rect">
            <a:avLst/>
          </a:prstGeom>
          <a:solidFill>
            <a:srgbClr val="eeeeee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ZONA PROCESSED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Limpieza y transformación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12"/>
          <p:cNvSpPr/>
          <p:nvPr/>
        </p:nvSpPr>
        <p:spPr>
          <a:xfrm>
            <a:off x="3200400" y="3429720"/>
            <a:ext cx="1828080" cy="685080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ZONA CURATED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Modelo dimensional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13"/>
          <p:cNvSpPr/>
          <p:nvPr/>
        </p:nvSpPr>
        <p:spPr>
          <a:xfrm>
            <a:off x="6400800" y="2514960"/>
            <a:ext cx="1371600" cy="456840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FINANCIERO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 3</a:t>
            </a:r>
            <a:r>
              <a:rPr b="0" lang="es-AR" sz="1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0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dashboards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14"/>
          <p:cNvSpPr/>
          <p:nvPr/>
        </p:nvSpPr>
        <p:spPr>
          <a:xfrm>
            <a:off x="6400800" y="1829520"/>
            <a:ext cx="1371600" cy="456480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COMERCIAL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3 dashboards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15"/>
          <p:cNvSpPr/>
          <p:nvPr/>
        </p:nvSpPr>
        <p:spPr>
          <a:xfrm>
            <a:off x="6401520" y="3164760"/>
            <a:ext cx="1370880" cy="456840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SUPPLY CHAIN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3 dashboards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16"/>
          <p:cNvSpPr/>
          <p:nvPr/>
        </p:nvSpPr>
        <p:spPr>
          <a:xfrm>
            <a:off x="6400800" y="3850560"/>
            <a:ext cx="1371600" cy="456840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EJECUTIVO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AR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 3 dashboards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1"/>
          <p:cNvSpPr/>
          <p:nvPr/>
        </p:nvSpPr>
        <p:spPr>
          <a:xfrm>
            <a:off x="6172200" y="1143000"/>
            <a:ext cx="1600200" cy="456480"/>
          </a:xfrm>
          <a:prstGeom prst="rect">
            <a:avLst/>
          </a:prstGeom>
          <a:solidFill>
            <a:srgbClr val="dee6ef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s-AR" sz="12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Conector a datos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"/>
          <p:cNvGrpSpPr/>
          <p:nvPr/>
        </p:nvGrpSpPr>
        <p:grpSpPr>
          <a:xfrm>
            <a:off x="457200" y="1143000"/>
            <a:ext cx="1828800" cy="1371600"/>
            <a:chOff x="457200" y="1143000"/>
            <a:chExt cx="1828800" cy="1371600"/>
          </a:xfrm>
        </p:grpSpPr>
        <p:sp>
          <p:nvSpPr>
            <p:cNvPr id="71" name="Rectangle 17"/>
            <p:cNvSpPr/>
            <p:nvPr/>
          </p:nvSpPr>
          <p:spPr>
            <a:xfrm>
              <a:off x="457200" y="1143000"/>
              <a:ext cx="1828800" cy="1371600"/>
            </a:xfrm>
            <a:prstGeom prst="rect">
              <a:avLst/>
            </a:prstGeom>
            <a:solidFill>
              <a:srgbClr val="ffffd7"/>
            </a:solidFill>
            <a:ln>
              <a:solidFill>
                <a:srgbClr val="646464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rgbClr val="666666"/>
                  </a:solidFill>
                  <a:effectLst/>
                  <a:uFillTx/>
                  <a:latin typeface="Calibri"/>
                </a:rPr>
                <a:t>TABLAS</a:t>
              </a:r>
              <a:endParaRPr b="0" lang="es-AR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00000"/>
                </a:lnSpc>
              </a:pPr>
              <a:endParaRPr b="0" lang="es-AR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ectangle 9"/>
            <p:cNvSpPr/>
            <p:nvPr/>
          </p:nvSpPr>
          <p:spPr>
            <a:xfrm>
              <a:off x="685800" y="1600200"/>
              <a:ext cx="1371600" cy="685800"/>
            </a:xfrm>
            <a:prstGeom prst="rect">
              <a:avLst/>
            </a:prstGeom>
            <a:solidFill>
              <a:srgbClr val="eeeeee"/>
            </a:solidFill>
            <a:ln>
              <a:solidFill>
                <a:srgbClr val="646464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trike="noStrike" u="none">
                  <a:solidFill>
                    <a:srgbClr val="666666"/>
                  </a:solidFill>
                  <a:effectLst/>
                  <a:uFillTx/>
                  <a:latin typeface="Calibri"/>
                </a:rPr>
                <a:t>FI, SD, MM, CO, Z</a:t>
              </a:r>
              <a:endParaRPr b="0" lang="es-AR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00000"/>
                </a:lnSpc>
              </a:pPr>
              <a:r>
                <a:rPr b="0" lang="en-US" sz="1200" strike="noStrike" u="none">
                  <a:solidFill>
                    <a:srgbClr val="666666"/>
                  </a:solidFill>
                  <a:effectLst/>
                  <a:uFillTx/>
                  <a:latin typeface="Calibri"/>
                </a:rPr>
                <a:t>12 </a:t>
              </a:r>
              <a:r>
                <a:rPr b="0" lang="es-AR" sz="1200" strike="noStrike" u="none">
                  <a:solidFill>
                    <a:srgbClr val="666666"/>
                  </a:solidFill>
                  <a:effectLst/>
                  <a:uFillTx/>
                  <a:latin typeface="Calibri"/>
                </a:rPr>
                <a:t>transacciones</a:t>
              </a:r>
              <a:endParaRPr b="0" lang="es-AR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" name="Rectangle 5"/>
          <p:cNvSpPr/>
          <p:nvPr/>
        </p:nvSpPr>
        <p:spPr>
          <a:xfrm>
            <a:off x="457200" y="3070800"/>
            <a:ext cx="1828800" cy="685080"/>
          </a:xfrm>
          <a:prstGeom prst="rect">
            <a:avLst/>
          </a:prstGeom>
          <a:solidFill>
            <a:srgbClr val="dee6ef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s-AR" sz="12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SAP Landscape Transformation (SLT)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"/>
          <p:cNvCxnSpPr>
            <a:endCxn id="73" idx="0"/>
          </p:cNvCxnSpPr>
          <p:nvPr/>
        </p:nvCxnSpPr>
        <p:spPr>
          <a:xfrm>
            <a:off x="1371600" y="2514600"/>
            <a:ext cx="360" cy="556560"/>
          </a:xfrm>
          <a:prstGeom prst="straightConnector1">
            <a:avLst/>
          </a:prstGeom>
          <a:ln w="18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75" name=""/>
          <p:cNvCxnSpPr>
            <a:stCxn id="62" idx="2"/>
            <a:endCxn id="63" idx="0"/>
          </p:cNvCxnSpPr>
          <p:nvPr/>
        </p:nvCxnSpPr>
        <p:spPr>
          <a:xfrm flipH="1">
            <a:off x="4114440" y="1828800"/>
            <a:ext cx="1080" cy="457920"/>
          </a:xfrm>
          <a:prstGeom prst="straightConnector1">
            <a:avLst/>
          </a:prstGeom>
          <a:ln w="18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76" name=""/>
          <p:cNvCxnSpPr>
            <a:stCxn id="63" idx="2"/>
            <a:endCxn id="64" idx="0"/>
          </p:cNvCxnSpPr>
          <p:nvPr/>
        </p:nvCxnSpPr>
        <p:spPr>
          <a:xfrm>
            <a:off x="4114440" y="2971800"/>
            <a:ext cx="360" cy="458280"/>
          </a:xfrm>
          <a:prstGeom prst="straightConnector1">
            <a:avLst/>
          </a:prstGeom>
          <a:ln w="18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77" name=""/>
          <p:cNvCxnSpPr>
            <a:stCxn id="59" idx="3"/>
            <a:endCxn id="60" idx="1"/>
          </p:cNvCxnSpPr>
          <p:nvPr/>
        </p:nvCxnSpPr>
        <p:spPr>
          <a:xfrm>
            <a:off x="2514240" y="2514600"/>
            <a:ext cx="457920" cy="360"/>
          </a:xfrm>
          <a:prstGeom prst="straightConnector1">
            <a:avLst/>
          </a:prstGeom>
          <a:ln w="18000">
            <a:solidFill>
              <a:srgbClr val="333333"/>
            </a:solidFill>
            <a:round/>
            <a:tailEnd len="med" type="triangle" w="med"/>
          </a:ln>
        </p:spPr>
      </p:cxnSp>
      <p:cxnSp>
        <p:nvCxnSpPr>
          <p:cNvPr id="78" name=""/>
          <p:cNvCxnSpPr>
            <a:stCxn id="60" idx="3"/>
            <a:endCxn id="61" idx="1"/>
          </p:cNvCxnSpPr>
          <p:nvPr/>
        </p:nvCxnSpPr>
        <p:spPr>
          <a:xfrm>
            <a:off x="5257080" y="2514600"/>
            <a:ext cx="450360" cy="360"/>
          </a:xfrm>
          <a:prstGeom prst="straightConnector1">
            <a:avLst/>
          </a:prstGeom>
          <a:ln w="18000">
            <a:solidFill>
              <a:srgbClr val="333333"/>
            </a:solidFill>
            <a:round/>
            <a:tailEnd len="med" type="triangle" w="med"/>
          </a:ln>
        </p:spPr>
      </p:cxnSp>
      <p:cxnSp>
        <p:nvCxnSpPr>
          <p:cNvPr id="79" name=""/>
          <p:cNvCxnSpPr>
            <a:stCxn id="69" idx="1"/>
            <a:endCxn id="66" idx="1"/>
          </p:cNvCxnSpPr>
          <p:nvPr/>
        </p:nvCxnSpPr>
        <p:spPr>
          <a:xfrm flipH="1" flipV="1" rot="10800000">
            <a:off x="6171840" y="1370880"/>
            <a:ext cx="228960" cy="686880"/>
          </a:xfrm>
          <a:prstGeom prst="bentConnector3">
            <a:avLst>
              <a:gd name="adj1" fmla="val -78740"/>
            </a:avLst>
          </a:prstGeom>
          <a:ln w="18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80" name=""/>
          <p:cNvCxnSpPr>
            <a:stCxn id="69" idx="1"/>
            <a:endCxn id="65" idx="1"/>
          </p:cNvCxnSpPr>
          <p:nvPr/>
        </p:nvCxnSpPr>
        <p:spPr>
          <a:xfrm flipH="1" flipV="1" rot="10800000">
            <a:off x="6171840" y="1371240"/>
            <a:ext cx="228960" cy="1372680"/>
          </a:xfrm>
          <a:prstGeom prst="bentConnector3">
            <a:avLst>
              <a:gd name="adj1" fmla="val -78740"/>
            </a:avLst>
          </a:prstGeom>
          <a:ln w="18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81" name=""/>
          <p:cNvCxnSpPr>
            <a:stCxn id="69" idx="1"/>
            <a:endCxn id="67" idx="1"/>
          </p:cNvCxnSpPr>
          <p:nvPr/>
        </p:nvCxnSpPr>
        <p:spPr>
          <a:xfrm flipH="1" flipV="1" rot="10800000">
            <a:off x="6171840" y="1370880"/>
            <a:ext cx="229680" cy="2022480"/>
          </a:xfrm>
          <a:prstGeom prst="bentConnector3">
            <a:avLst>
              <a:gd name="adj1" fmla="val -78492"/>
            </a:avLst>
          </a:prstGeom>
          <a:ln w="18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82" name=""/>
          <p:cNvCxnSpPr>
            <a:stCxn id="69" idx="1"/>
            <a:endCxn id="68" idx="1"/>
          </p:cNvCxnSpPr>
          <p:nvPr/>
        </p:nvCxnSpPr>
        <p:spPr>
          <a:xfrm flipH="1" flipV="1" rot="10800000">
            <a:off x="6171840" y="1371240"/>
            <a:ext cx="228960" cy="2708280"/>
          </a:xfrm>
          <a:prstGeom prst="bentConnector3">
            <a:avLst>
              <a:gd name="adj1" fmla="val -78740"/>
            </a:avLst>
          </a:prstGeom>
          <a:ln w="18000">
            <a:solidFill>
              <a:srgbClr val="3465a4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LibreOffice/25.8.2.2$Linux_X86_64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2025-11-12T09:28:54Z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