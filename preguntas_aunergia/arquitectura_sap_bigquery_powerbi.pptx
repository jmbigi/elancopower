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FD007A-1566-424E-A5AE-2C688FBFE7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928E1F-FF93-4CA4-A031-EF2A07C347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56CC7F-B0FE-40AD-A3CC-B938F0EEFB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07351E-893E-4152-B1A6-BC16F83A11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7A4DE6-3591-4D1F-8479-F881A30D4D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3D8658-DDF9-497F-BB29-0B1753C3BD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3A80C0-2F1B-4500-BE90-8DB7892D4B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B00274-65A1-4D6E-B7F8-862E531E75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821B27-CFBD-488E-A7DE-95C624C74A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D1BAA1-D5C9-45C8-9B0F-D848150FAB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28C88-6FB8-416D-9040-61C16D8BAF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457200" y="274320"/>
            <a:ext cx="18561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Arquitectura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228960" y="1479600"/>
            <a:ext cx="2285640" cy="4235400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SAP S/4HANA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4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(On-premise)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2971800" y="1479960"/>
            <a:ext cx="2285640" cy="4235040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Google BigQuery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4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(Data Lake 3-capas)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4"/>
          <p:cNvSpPr/>
          <p:nvPr/>
        </p:nvSpPr>
        <p:spPr>
          <a:xfrm>
            <a:off x="5715000" y="3200400"/>
            <a:ext cx="32004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Power BI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4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(12 Dashboards)&lt;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457200" y="1936800"/>
            <a:ext cx="1143000" cy="3492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FI - 4 tx</a:t>
            </a:r>
            <a:endParaRPr b="0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457200" y="2485440"/>
            <a:ext cx="1143000" cy="4568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SD - 2 tx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457200" y="3034080"/>
            <a:ext cx="1143000" cy="4568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MM - 6 tx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457200" y="3582720"/>
            <a:ext cx="1143000" cy="4568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CO - 2 tx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9"/>
          <p:cNvSpPr/>
          <p:nvPr/>
        </p:nvSpPr>
        <p:spPr>
          <a:xfrm>
            <a:off x="457200" y="4131360"/>
            <a:ext cx="1143000" cy="4568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Z* - 2 tx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10"/>
          <p:cNvSpPr/>
          <p:nvPr/>
        </p:nvSpPr>
        <p:spPr>
          <a:xfrm>
            <a:off x="3200040" y="2514600"/>
            <a:ext cx="1828440" cy="6854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ZONA RAW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Datos crudos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1"/>
          <p:cNvSpPr/>
          <p:nvPr/>
        </p:nvSpPr>
        <p:spPr>
          <a:xfrm>
            <a:off x="3200040" y="3609000"/>
            <a:ext cx="1828440" cy="685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ZONA PROCESSED</a:t>
            </a:r>
            <a:endParaRPr b="0" lang="en-US" sz="1200" strike="noStrike" u="none">
              <a:solidFill>
                <a:srgbClr val="666666"/>
              </a:solidFill>
              <a:effectLst/>
              <a:uFillTx/>
              <a:latin typeface="Calibri"/>
              <a:ea typeface="Noto Sans CJK SC"/>
            </a:endParaRPr>
          </a:p>
          <a:p>
            <a:r>
              <a:rPr b="0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Limpieza y transformación</a:t>
            </a:r>
            <a:endParaRPr b="0" lang="en-US" sz="1200" strike="noStrike" u="none">
              <a:solidFill>
                <a:srgbClr val="666666"/>
              </a:solidFill>
              <a:effectLst/>
              <a:uFillTx/>
              <a:latin typeface="Calibri"/>
              <a:ea typeface="Noto Sans CJK SC"/>
            </a:endParaRPr>
          </a:p>
        </p:txBody>
      </p:sp>
      <p:sp>
        <p:nvSpPr>
          <p:cNvPr id="70" name="Rectangle 12"/>
          <p:cNvSpPr/>
          <p:nvPr/>
        </p:nvSpPr>
        <p:spPr>
          <a:xfrm>
            <a:off x="3200040" y="4714200"/>
            <a:ext cx="1828440" cy="6854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ZONA CURATED</a:t>
            </a:r>
            <a:endParaRPr b="0" lang="en-US" sz="1200" strike="noStrike" u="none">
              <a:solidFill>
                <a:srgbClr val="666666"/>
              </a:solidFill>
              <a:effectLst/>
              <a:uFillTx/>
              <a:latin typeface="Calibri"/>
              <a:ea typeface="Noto Sans CJK SC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Modelo dimensional</a:t>
            </a:r>
            <a:endParaRPr b="0" lang="en-US" sz="1200" strike="noStrike" u="none">
              <a:solidFill>
                <a:srgbClr val="666666"/>
              </a:solidFill>
              <a:effectLst/>
              <a:uFillTx/>
              <a:latin typeface="Calibri"/>
              <a:ea typeface="Noto Sans CJK SC"/>
            </a:endParaRPr>
          </a:p>
        </p:txBody>
      </p:sp>
      <p:sp>
        <p:nvSpPr>
          <p:cNvPr id="71" name="Rectangle 13"/>
          <p:cNvSpPr/>
          <p:nvPr/>
        </p:nvSpPr>
        <p:spPr>
          <a:xfrm>
            <a:off x="7544160" y="3886200"/>
            <a:ext cx="1142640" cy="4572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FINANCIERO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 3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dashboards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4"/>
          <p:cNvSpPr/>
          <p:nvPr/>
        </p:nvSpPr>
        <p:spPr>
          <a:xfrm>
            <a:off x="7544160" y="4572360"/>
            <a:ext cx="1142640" cy="45684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COMERCIAL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3 dashboards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5"/>
          <p:cNvSpPr/>
          <p:nvPr/>
        </p:nvSpPr>
        <p:spPr>
          <a:xfrm>
            <a:off x="7544160" y="5257800"/>
            <a:ext cx="1142640" cy="4572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SUPPLY CHAIN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3 dashboards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6"/>
          <p:cNvSpPr/>
          <p:nvPr/>
        </p:nvSpPr>
        <p:spPr>
          <a:xfrm>
            <a:off x="7544160" y="5943600"/>
            <a:ext cx="1142640" cy="4572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EJECUTIVO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 3 dashboards</a:t>
            </a:r>
            <a:endParaRPr b="1" lang="en-US" sz="1200" strike="noStrike" u="non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28600" y="1522080"/>
            <a:ext cx="228600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SAP S/4HANA(On-premise)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200400" y="1669320"/>
            <a:ext cx="1828800" cy="53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Google BigQuery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Calibri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Data Lake 3 capas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Calibri"/>
              <a:ea typeface="Noto Sans CJK SC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943600" y="3429000"/>
            <a:ext cx="228600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Power BI - 12 dashboards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Calibri"/>
              <a:ea typeface="Noto Sans CJK SC"/>
            </a:endParaRPr>
          </a:p>
        </p:txBody>
      </p:sp>
      <p:sp>
        <p:nvSpPr>
          <p:cNvPr id="78" name="Rectangle 1"/>
          <p:cNvSpPr/>
          <p:nvPr/>
        </p:nvSpPr>
        <p:spPr>
          <a:xfrm>
            <a:off x="5943600" y="4343760"/>
            <a:ext cx="1143000" cy="456840"/>
          </a:xfrm>
          <a:prstGeom prst="rect">
            <a:avLst/>
          </a:prstGeom>
          <a:solidFill>
            <a:srgbClr val="dee6ef"/>
          </a:solidFill>
          <a:ln>
            <a:solidFill>
              <a:srgbClr val="64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/>
            <a:r>
              <a:rPr b="1" lang="en-US" sz="12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DirectQuery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cxnSp>
        <p:nvCxnSpPr>
          <p:cNvPr id="79" name=""/>
          <p:cNvCxnSpPr>
            <a:stCxn id="78" idx="3"/>
            <a:endCxn id="71" idx="1"/>
          </p:cNvCxnSpPr>
          <p:nvPr/>
        </p:nvCxnSpPr>
        <p:spPr>
          <a:xfrm flipV="1">
            <a:off x="7086600" y="4114800"/>
            <a:ext cx="457920" cy="45792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0" name=""/>
          <p:cNvCxnSpPr>
            <a:stCxn id="78" idx="3"/>
            <a:endCxn id="72" idx="1"/>
          </p:cNvCxnSpPr>
          <p:nvPr/>
        </p:nvCxnSpPr>
        <p:spPr>
          <a:xfrm>
            <a:off x="7086600" y="4572360"/>
            <a:ext cx="457920" cy="22896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1" name=""/>
          <p:cNvCxnSpPr>
            <a:stCxn id="78" idx="3"/>
            <a:endCxn id="73" idx="1"/>
          </p:cNvCxnSpPr>
          <p:nvPr/>
        </p:nvCxnSpPr>
        <p:spPr>
          <a:xfrm>
            <a:off x="7086600" y="4572360"/>
            <a:ext cx="457920" cy="91440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2" name=""/>
          <p:cNvCxnSpPr>
            <a:stCxn id="78" idx="3"/>
            <a:endCxn id="74" idx="1"/>
          </p:cNvCxnSpPr>
          <p:nvPr/>
        </p:nvCxnSpPr>
        <p:spPr>
          <a:xfrm>
            <a:off x="7086600" y="4572360"/>
            <a:ext cx="457920" cy="160020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3" name=""/>
          <p:cNvCxnSpPr>
            <a:stCxn id="70" idx="3"/>
            <a:endCxn id="78" idx="1"/>
          </p:cNvCxnSpPr>
          <p:nvPr/>
        </p:nvCxnSpPr>
        <p:spPr>
          <a:xfrm flipV="1">
            <a:off x="5028480" y="4572360"/>
            <a:ext cx="915480" cy="48492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LibreOffice/25.8.2.2$Linux_X86_64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2025-11-10T19:15:56Z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